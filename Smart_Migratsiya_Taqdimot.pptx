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005840" cy="1005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45920" y="3474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O'ZBEKISTON RESPUBLIKASI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1645920" y="640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Qashqadaryo viloyati kambag'allikni qisqartirish va bandlik boshqarmasi</a:t>
            </a:r>
            <a:endParaRPr lang="en-US" sz="850" dirty="0"/>
          </a:p>
        </p:txBody>
      </p:sp>
      <p:sp>
        <p:nvSpPr>
          <p:cNvPr id="7" name="Shape 3"/>
          <p:cNvSpPr/>
          <p:nvPr/>
        </p:nvSpPr>
        <p:spPr>
          <a:xfrm>
            <a:off x="457200" y="1417320"/>
            <a:ext cx="5669280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155448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MIGRATSIYA –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457200" y="217627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B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BANDLIK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457200" y="28803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Loyiha Taqdimoti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3337560"/>
            <a:ext cx="5669280" cy="987552"/>
          </a:xfrm>
          <a:prstGeom prst="roundRect">
            <a:avLst>
              <a:gd name="adj" fmla="val 55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94360" y="34015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Xonimqulova Mohinur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94360" y="3694176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Mehnat bozori tahlili, bo'sh ish o'rinlari hisobini yuritish va ishga joylashtirish shubasi — yetakchi mutaxassis</a:t>
            </a:r>
            <a:endParaRPr lang="en-US" sz="8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2743200" cy="1371600"/>
          </a:xfrm>
          <a:prstGeom prst="rect">
            <a:avLst/>
          </a:prstGeom>
          <a:effectLst>
            <a:outerShdw sx="100000" sy="100000" kx="0" ky="0" algn="bl" rotWithShape="0" blurRad="228600" dist="50800" dir="2700000">
              <a:srgbClr val="000000">
                <a:alpha val="40000"/>
              </a:srgbClr>
            </a:outerShdw>
          </a:effectLst>
        </p:spPr>
      </p:pic>
      <p:sp>
        <p:nvSpPr>
          <p:cNvPr id="15" name="Shape 10"/>
          <p:cNvSpPr/>
          <p:nvPr/>
        </p:nvSpPr>
        <p:spPr>
          <a:xfrm>
            <a:off x="6629400" y="3017520"/>
            <a:ext cx="1920240" cy="438912"/>
          </a:xfrm>
          <a:prstGeom prst="roundRect">
            <a:avLst>
              <a:gd name="adj" fmla="val 20833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629400" y="30175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– 2026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989320" y="365760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EB6A3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73075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92240" y="36850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Qashqadaryo viloyati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23460"/>
            <a:ext cx="9144000" cy="155448"/>
          </a:xfrm>
          <a:prstGeom prst="rect">
            <a:avLst/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4978908"/>
            <a:ext cx="9144000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CE2028"/>
          </a:solidFill>
          <a:ln w="12700">
            <a:solidFill>
              <a:srgbClr val="CE202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743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1EB6A3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9600" dirty="0"/>
          </a:p>
        </p:txBody>
      </p:sp>
      <p:sp>
        <p:nvSpPr>
          <p:cNvPr id="8" name="Text 5"/>
          <p:cNvSpPr/>
          <p:nvPr/>
        </p:nvSpPr>
        <p:spPr>
          <a:xfrm>
            <a:off x="1097280" y="128016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Sizlar – Yangi O'zbekiston bunyodkorlari sifatida yangi tarix yaratadigan oltin avlodsiz.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3200400" y="3246120"/>
            <a:ext cx="27432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40156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SH. MIRZIYOYEV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378561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O'zbekiston Respublikasi Prezidenti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64592"/>
            <a:ext cx="146304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0D2455"/>
          </a:solidFill>
          <a:ln w="12700">
            <a:solidFill>
              <a:srgbClr val="0D24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2588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09728"/>
            <a:ext cx="1417320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2801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0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LOYIHA MAZMUNI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828800" y="475488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Hozirgi kunda ishsiz bo'lgan oliy ta'lim, professional ta'lim va umumiy o'rta ta'lim bitiruvchilarini tashqi mehnat migratsiyasi orqali bandligini ta'minlash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56032" y="1508760"/>
            <a:ext cx="2788920" cy="329184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234440" y="1737360"/>
            <a:ext cx="822960" cy="822960"/>
          </a:xfrm>
          <a:prstGeom prst="ellipse">
            <a:avLst/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2" y="1810512"/>
            <a:ext cx="676656" cy="6766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6032" y="2670048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Ta'lim Qamrovi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93192" y="309067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Oliy, professional va umumta'lim bitiruvchilari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163824" y="1508760"/>
            <a:ext cx="2788920" cy="329184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142232" y="1737360"/>
            <a:ext cx="822960" cy="822960"/>
          </a:xfrm>
          <a:prstGeom prst="ellipse">
            <a:avLst/>
          </a:prstGeom>
          <a:solidFill>
            <a:srgbClr val="0D2455"/>
          </a:solidFill>
          <a:ln w="12700">
            <a:solidFill>
              <a:srgbClr val="0D245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384" y="1810512"/>
            <a:ext cx="676656" cy="6766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63824" y="2670048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Xalqaro Yo'nalish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300984" y="309067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Yevropa, Koreya, Yaponiya va rivojlangan davlatlar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071616" y="1508760"/>
            <a:ext cx="2788920" cy="329184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050024" y="1737360"/>
            <a:ext cx="822960" cy="8229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176" y="1810512"/>
            <a:ext cx="676656" cy="6766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71616" y="2670048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Tartibli Migratsiya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208776" y="309067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Xavfsiz va qonuniy tashqi mehnat tizimi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4592"/>
            <a:ext cx="1371600" cy="6858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28800" y="13716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JORIY HOLAT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1828800" y="43891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Qashqadaryo Viloyatida Mehnat Migratsiyasi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228600" y="1051560"/>
            <a:ext cx="868680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57200" y="1234440"/>
            <a:ext cx="4023360" cy="2560320"/>
          </a:xfrm>
          <a:prstGeom prst="roundRect">
            <a:avLst>
              <a:gd name="adj" fmla="val 4286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40080" y="1417320"/>
            <a:ext cx="713232" cy="713232"/>
          </a:xfrm>
          <a:prstGeom prst="ellipse">
            <a:avLst/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472184"/>
            <a:ext cx="594360" cy="59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200" y="221284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0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141 797</a:t>
            </a:r>
            <a:endParaRPr lang="en-US" sz="4200" dirty="0"/>
          </a:p>
        </p:txBody>
      </p:sp>
      <p:sp>
        <p:nvSpPr>
          <p:cNvPr id="12" name="Text 7"/>
          <p:cNvSpPr/>
          <p:nvPr/>
        </p:nvSpPr>
        <p:spPr>
          <a:xfrm>
            <a:off x="640080" y="294436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Xorij mehnat bozorida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faoliyat yuritayotgan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fuqarolar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800600" y="1234440"/>
            <a:ext cx="4023360" cy="2560320"/>
          </a:xfrm>
          <a:prstGeom prst="roundRect">
            <a:avLst>
              <a:gd name="adj" fmla="val 4286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983480" y="1417320"/>
            <a:ext cx="713232" cy="71323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344" y="1472184"/>
            <a:ext cx="594360" cy="5943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800600" y="221284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0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50 267</a:t>
            </a:r>
            <a:endParaRPr lang="en-US" sz="4200" dirty="0"/>
          </a:p>
        </p:txBody>
      </p:sp>
      <p:sp>
        <p:nvSpPr>
          <p:cNvPr id="17" name="Text 11"/>
          <p:cNvSpPr/>
          <p:nvPr/>
        </p:nvSpPr>
        <p:spPr>
          <a:xfrm>
            <a:off x="4983480" y="294436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Shundan yoshlar —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yosh ishchi kuchi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xorijda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457200" y="3950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Xorijda band yoshlar ulushi (umumiy migratsiyadan):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57200" y="4224528"/>
            <a:ext cx="8229600" cy="256032"/>
          </a:xfrm>
          <a:prstGeom prst="roundRect">
            <a:avLst>
              <a:gd name="adj" fmla="val 17857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57200" y="4224528"/>
            <a:ext cx="2916936" cy="256032"/>
          </a:xfrm>
          <a:prstGeom prst="roundRect">
            <a:avLst>
              <a:gd name="adj" fmla="val 17857"/>
            </a:avLst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200400" y="4206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35.4%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D2455"/>
          </a:solidFill>
          <a:ln w="12700">
            <a:solidFill>
              <a:srgbClr val="0D24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91440"/>
            <a:ext cx="1417320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9144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2026-YIL PROGNOZI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828800" y="40233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Mehnat Bozoriga Kirib Keluvchilar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01168" y="1389888"/>
            <a:ext cx="2057400" cy="24231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572768"/>
            <a:ext cx="804672" cy="804672"/>
          </a:xfrm>
          <a:prstGeom prst="ellipse">
            <a:avLst/>
          </a:prstGeom>
          <a:solidFill>
            <a:srgbClr val="0D2455"/>
          </a:solidFill>
          <a:ln w="12700">
            <a:solidFill>
              <a:srgbClr val="0D245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645920"/>
            <a:ext cx="658368" cy="6583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" y="2450592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35 885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310896" y="294436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Oliy ta'lim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bitiruvchilari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414016" y="1389888"/>
            <a:ext cx="2057400" cy="24231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035808" y="1572768"/>
            <a:ext cx="804672" cy="804672"/>
          </a:xfrm>
          <a:prstGeom prst="ellipse">
            <a:avLst/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645920"/>
            <a:ext cx="658368" cy="6583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414016" y="2450592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14 162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2523744" y="294436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ta'lim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bitiruvchilari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626864" y="1389888"/>
            <a:ext cx="2057400" cy="24231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248656" y="1572768"/>
            <a:ext cx="804672" cy="804672"/>
          </a:xfrm>
          <a:prstGeom prst="ellipse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1645920"/>
            <a:ext cx="658368" cy="6583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626864" y="2450592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44 054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4736592" y="294436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Umumta'lim maktab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bitiruvchilari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6839712" y="1389888"/>
            <a:ext cx="2057400" cy="24231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461504" y="1572768"/>
            <a:ext cx="804672" cy="804672"/>
          </a:xfrm>
          <a:prstGeom prst="ellipse">
            <a:avLst/>
          </a:prstGeom>
          <a:solidFill>
            <a:srgbClr val="CE2028"/>
          </a:solidFill>
          <a:ln w="12700">
            <a:solidFill>
              <a:srgbClr val="CE2028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656" y="1645920"/>
            <a:ext cx="658368" cy="6583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39712" y="2450592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5 242</a:t>
            </a:r>
            <a:endParaRPr lang="en-US" sz="2200" dirty="0"/>
          </a:p>
        </p:txBody>
      </p:sp>
      <p:sp>
        <p:nvSpPr>
          <p:cNvPr id="26" name="Text 19"/>
          <p:cNvSpPr/>
          <p:nvPr/>
        </p:nvSpPr>
        <p:spPr>
          <a:xfrm>
            <a:off x="6949440" y="294436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Ishsiz yoshlar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201168" y="3950208"/>
            <a:ext cx="8741664" cy="822960"/>
          </a:xfrm>
          <a:prstGeom prst="roundRect">
            <a:avLst>
              <a:gd name="adj" fmla="val 11111"/>
            </a:avLst>
          </a:prstGeom>
          <a:solidFill>
            <a:srgbClr val="0D2455"/>
          </a:solidFill>
          <a:ln w="12700">
            <a:solidFill>
              <a:srgbClr val="0D2455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57200" y="40416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JAMI ISH QIDIRUVCHILAR: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572000" y="4023360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99 343 nafar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E2028"/>
          </a:solidFill>
          <a:ln w="12700">
            <a:solidFill>
              <a:srgbClr val="CE202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73152"/>
            <a:ext cx="3291840" cy="5070348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70432" y="502920"/>
            <a:ext cx="960120" cy="960120"/>
          </a:xfrm>
          <a:prstGeom prst="ellipse">
            <a:avLst/>
          </a:prstGeom>
          <a:solidFill>
            <a:srgbClr val="CE2028"/>
          </a:solidFill>
          <a:ln w="12700">
            <a:solidFill>
              <a:srgbClr val="CE2028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576072"/>
            <a:ext cx="777240" cy="777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" y="1627632"/>
            <a:ext cx="3017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MAVJUD</a:t>
            </a:r>
            <a:endParaRPr lang="en-US" sz="2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MUAMMOLAR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82880" y="257860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Mehnat bozorida talab va taklif o'rtasida nomutanosiblik saqlanmoqda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31920"/>
            <a:ext cx="2286000" cy="10058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474720" y="32004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0160">
            <a:solidFill>
              <a:srgbClr val="CE2028">
                <a:alpha val="5000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3611880" y="466344"/>
            <a:ext cx="658368" cy="658368"/>
          </a:xfrm>
          <a:prstGeom prst="ellipse">
            <a:avLst/>
          </a:prstGeom>
          <a:solidFill>
            <a:srgbClr val="CE2028"/>
          </a:solidFill>
          <a:ln w="12700">
            <a:solidFill>
              <a:srgbClr val="CE2028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539496"/>
            <a:ext cx="512064" cy="51206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407408" y="374904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Bo'sh ish o'rinlari yetarli emas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407408" y="722376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8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Barcha yoshlarni to'liq qamrab olish imkoni yo'q, raqobat kuchayib bormoqda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3474720" y="1490472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0160">
            <a:solidFill>
              <a:srgbClr val="CE2028">
                <a:alpha val="5000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3611880" y="1636776"/>
            <a:ext cx="658368" cy="658368"/>
          </a:xfrm>
          <a:prstGeom prst="ellipse">
            <a:avLst/>
          </a:prstGeom>
          <a:solidFill>
            <a:srgbClr val="CE2028"/>
          </a:solidFill>
          <a:ln w="12700">
            <a:solidFill>
              <a:srgbClr val="CE2028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5032" y="1709928"/>
            <a:ext cx="512064" cy="51206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407408" y="1545336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Kadrlar profili mos kelmaydi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4407408" y="1892808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8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Mexanizatsiya, qurilish, payvandchilik, IT sohasida mahalliy talab cheklangan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3474720" y="2660904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0160">
            <a:solidFill>
              <a:srgbClr val="CE2028">
                <a:alpha val="50000"/>
              </a:srgbClr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3611880" y="2807208"/>
            <a:ext cx="658368" cy="658368"/>
          </a:xfrm>
          <a:prstGeom prst="ellipse">
            <a:avLst/>
          </a:prstGeom>
          <a:solidFill>
            <a:srgbClr val="CE2028"/>
          </a:solidFill>
          <a:ln w="12700">
            <a:solidFill>
              <a:srgbClr val="CE2028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5032" y="2880360"/>
            <a:ext cx="512064" cy="51206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407408" y="2715768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Xalqaro imkoniyatlar yo'qolmoqda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4407408" y="3063240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8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Yevropa, Koreya, Yaponiya — yuqori talab, ammo yoshlarda til va axborot yetarli emas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3474720" y="3831336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0160">
            <a:solidFill>
              <a:srgbClr val="CE2028">
                <a:alpha val="50000"/>
              </a:srgbClr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3611880" y="3977640"/>
            <a:ext cx="658368" cy="658368"/>
          </a:xfrm>
          <a:prstGeom prst="ellipse">
            <a:avLst/>
          </a:prstGeom>
          <a:solidFill>
            <a:srgbClr val="CE2028"/>
          </a:solidFill>
          <a:ln w="12700">
            <a:solidFill>
              <a:srgbClr val="CE2028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5032" y="4050792"/>
            <a:ext cx="512064" cy="51206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407408" y="3886200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mutaxassislari tayyor emas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4407408" y="4233672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8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Dasturchi, kiberxavfsizlik, ma'lumotlar tahlilchisi — xalqaro talabga javob berolmayapti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B6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4592"/>
            <a:ext cx="1371600" cy="685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28800" y="13716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SOHASI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828800" y="43891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Xalqaro Mehnat Bozorida Raqamli Kasblar Talabi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228600" y="1005840"/>
            <a:ext cx="868680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74320" y="1170432"/>
            <a:ext cx="416052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12000"/>
            </a:srgbClr>
          </a:solidFill>
          <a:ln w="10160">
            <a:solidFill>
              <a:srgbClr val="1EB6A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11480" y="1353312"/>
            <a:ext cx="685800" cy="685800"/>
          </a:xfrm>
          <a:prstGeom prst="ellipse">
            <a:avLst/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26464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126187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Dasturchilar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234440" y="16276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Web, mobile va backend dasturlash mutaxassislari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274320" y="2432304"/>
            <a:ext cx="416052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12000"/>
            </a:srgbClr>
          </a:solidFill>
          <a:ln w="10160">
            <a:solidFill>
              <a:srgbClr val="1EB6A3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11480" y="2615184"/>
            <a:ext cx="685800" cy="685800"/>
          </a:xfrm>
          <a:prstGeom prst="ellipse">
            <a:avLst/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688336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252374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Veb-dizaynerlar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234440" y="288950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va frontend dizayn sohasida kadrlar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274320" y="3694176"/>
            <a:ext cx="416052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12000"/>
            </a:srgbClr>
          </a:solidFill>
          <a:ln w="10160">
            <a:solidFill>
              <a:srgbClr val="1EB6A3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11480" y="3877056"/>
            <a:ext cx="685800" cy="685800"/>
          </a:xfrm>
          <a:prstGeom prst="ellipse">
            <a:avLst/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950208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378561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Kiberxavfsizlik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1234440" y="415137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Axborot xavfsizligi mutaxassislari talabi ortib bormoqda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4709160" y="1170432"/>
            <a:ext cx="416052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12000"/>
            </a:srgbClr>
          </a:solidFill>
          <a:ln w="10160">
            <a:solidFill>
              <a:srgbClr val="1EB6A3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846320" y="1353312"/>
            <a:ext cx="685800" cy="685800"/>
          </a:xfrm>
          <a:prstGeom prst="ellipse">
            <a:avLst/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1426464"/>
            <a:ext cx="548640" cy="5486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669280" y="126187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Ma'lumotlar tahlilchisi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5669280" y="16276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va AI sohasidagi kadrlar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4709160" y="2432304"/>
            <a:ext cx="416052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12000"/>
            </a:srgbClr>
          </a:solidFill>
          <a:ln w="10160">
            <a:solidFill>
              <a:srgbClr val="1EB6A3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4846320" y="2615184"/>
            <a:ext cx="685800" cy="685800"/>
          </a:xfrm>
          <a:prstGeom prst="ellipse">
            <a:avLst/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2688336"/>
            <a:ext cx="548640" cy="54864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669280" y="252374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Masofaviy xizmatlar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5669280" y="288950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Raqamli platformalar orqali xalqaro ish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D2455"/>
          </a:solidFill>
          <a:ln w="12700">
            <a:solidFill>
              <a:srgbClr val="0D24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91440"/>
            <a:ext cx="1417320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9144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YECHIM TAKLIFI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828800" y="40233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Bosqichli Amalga Oshirish Rejasi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01168" y="1389888"/>
            <a:ext cx="2816352" cy="3493008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01168" y="1389888"/>
            <a:ext cx="2816352" cy="914400"/>
          </a:xfrm>
          <a:prstGeom prst="roundRect">
            <a:avLst>
              <a:gd name="adj" fmla="val 10000"/>
            </a:avLst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1168" y="1938528"/>
            <a:ext cx="2816352" cy="365760"/>
          </a:xfrm>
          <a:prstGeom prst="rect">
            <a:avLst/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1508760"/>
            <a:ext cx="640080" cy="6400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92608" y="175564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1-OY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74320" y="2377440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Tayyorlov Bosqichi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58368" y="2816352"/>
            <a:ext cx="1901952" cy="0"/>
          </a:xfrm>
          <a:prstGeom prst="line">
            <a:avLst/>
          </a:prstGeom>
          <a:noFill/>
          <a:ln w="7620">
            <a:solidFill>
              <a:srgbClr val="D0D8E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907792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58368" y="287121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Mehnat bozori tahlilini o'tkazish</a:t>
            </a:r>
            <a:endParaRPr lang="en-US" sz="9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364992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8368" y="332841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Maqsadli yoshlar ro'yxatini shakllantirish</a:t>
            </a:r>
            <a:endParaRPr lang="en-US" sz="9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822192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8368" y="378561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Xorijiy ish beruvchilar ehtiyojini o'rganish</a:t>
            </a:r>
            <a:endParaRPr lang="en-US" sz="9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279392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58368" y="424281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Hamkor tashkilotlar bilan kelishuvlar imzolash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3172968" y="1389888"/>
            <a:ext cx="2816352" cy="3493008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3172968" y="1389888"/>
            <a:ext cx="2816352" cy="914400"/>
          </a:xfrm>
          <a:prstGeom prst="roundRect">
            <a:avLst>
              <a:gd name="adj" fmla="val 10000"/>
            </a:avLst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172968" y="1938528"/>
            <a:ext cx="2816352" cy="365760"/>
          </a:xfrm>
          <a:prstGeom prst="rect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3337560" y="1508760"/>
            <a:ext cx="640080" cy="6400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333756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3264408" y="175564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2-OY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3246120" y="2377440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O'qitish Bosqichi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3630168" y="2816352"/>
            <a:ext cx="1901952" cy="0"/>
          </a:xfrm>
          <a:prstGeom prst="line">
            <a:avLst/>
          </a:prstGeom>
          <a:noFill/>
          <a:ln w="7620">
            <a:solidFill>
              <a:srgbClr val="D0D8E8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5848" y="2907792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30168" y="287121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Xorijiy til va kasbiy kurslarni tashkil etish</a:t>
            </a:r>
            <a:endParaRPr lang="en-US" sz="9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5848" y="3364992"/>
            <a:ext cx="201168" cy="20116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630168" y="332841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sohasi bo'yicha intensiv o'quv dasturlari</a:t>
            </a:r>
            <a:endParaRPr lang="en-US" sz="9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5848" y="3822192"/>
            <a:ext cx="201168" cy="20116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3630168" y="378561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Elektron platformani ishga tushirish</a:t>
            </a:r>
            <a:endParaRPr lang="en-US" sz="9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5848" y="4279392"/>
            <a:ext cx="201168" cy="201168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3630168" y="424281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Xalqaro sertifikatga tayyorlash</a:t>
            </a:r>
            <a:endParaRPr lang="en-US" sz="900" dirty="0"/>
          </a:p>
        </p:txBody>
      </p:sp>
      <p:sp>
        <p:nvSpPr>
          <p:cNvPr id="39" name="Shape 28"/>
          <p:cNvSpPr/>
          <p:nvPr/>
        </p:nvSpPr>
        <p:spPr>
          <a:xfrm>
            <a:off x="6144768" y="1389888"/>
            <a:ext cx="2816352" cy="3493008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10000"/>
              </a:srgbClr>
            </a:outerShdw>
          </a:effectLst>
        </p:spPr>
      </p:sp>
      <p:sp>
        <p:nvSpPr>
          <p:cNvPr id="40" name="Shape 29"/>
          <p:cNvSpPr/>
          <p:nvPr/>
        </p:nvSpPr>
        <p:spPr>
          <a:xfrm>
            <a:off x="6144768" y="1389888"/>
            <a:ext cx="2816352" cy="914400"/>
          </a:xfrm>
          <a:prstGeom prst="roundRect">
            <a:avLst>
              <a:gd name="adj" fmla="val 10000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6144768" y="1938528"/>
            <a:ext cx="2816352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6309360" y="1508760"/>
            <a:ext cx="640080" cy="6400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630936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4" name="Text 33"/>
          <p:cNvSpPr/>
          <p:nvPr/>
        </p:nvSpPr>
        <p:spPr>
          <a:xfrm>
            <a:off x="6236208" y="175564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3-OY</a:t>
            </a:r>
            <a:endParaRPr lang="en-US" sz="800" dirty="0"/>
          </a:p>
        </p:txBody>
      </p:sp>
      <p:sp>
        <p:nvSpPr>
          <p:cNvPr id="45" name="Text 34"/>
          <p:cNvSpPr/>
          <p:nvPr/>
        </p:nvSpPr>
        <p:spPr>
          <a:xfrm>
            <a:off x="6217920" y="2377440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Yo'naltirish Bosqichi</a:t>
            </a:r>
            <a:endParaRPr lang="en-US" sz="1250" dirty="0"/>
          </a:p>
        </p:txBody>
      </p:sp>
      <p:sp>
        <p:nvSpPr>
          <p:cNvPr id="46" name="Shape 35"/>
          <p:cNvSpPr/>
          <p:nvPr/>
        </p:nvSpPr>
        <p:spPr>
          <a:xfrm>
            <a:off x="6601968" y="2816352"/>
            <a:ext cx="1901952" cy="0"/>
          </a:xfrm>
          <a:prstGeom prst="line">
            <a:avLst/>
          </a:prstGeom>
          <a:noFill/>
          <a:ln w="7620">
            <a:solidFill>
              <a:srgbClr val="D0D8E8"/>
            </a:solidFill>
            <a:prstDash val="solid"/>
          </a:ln>
        </p:spPr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7648" y="2907792"/>
            <a:ext cx="201168" cy="201168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6601968" y="287121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Onlayn va oflayn yarmarkalar o'tkazish</a:t>
            </a:r>
            <a:endParaRPr lang="en-US" sz="900" dirty="0"/>
          </a:p>
        </p:txBody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7648" y="3364992"/>
            <a:ext cx="201168" cy="201168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6601968" y="332841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Xorij ish beruvchilar bilan uchrashuv</a:t>
            </a:r>
            <a:endParaRPr lang="en-US" sz="900" dirty="0"/>
          </a:p>
        </p:txBody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7648" y="3822192"/>
            <a:ext cx="201168" cy="201168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6601968" y="378561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Tartibli mehnat migrasiyasiga yo'naltirish</a:t>
            </a:r>
            <a:endParaRPr lang="en-US" sz="900" dirty="0"/>
          </a:p>
        </p:txBody>
      </p:sp>
      <p:pic>
        <p:nvPicPr>
          <p:cNvPr id="5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7648" y="4279392"/>
            <a:ext cx="201168" cy="201168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601968" y="424281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va kuzatib borish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4592"/>
            <a:ext cx="1371600" cy="6858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28800" y="13716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YANGI TIZIM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1828800" y="43891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Mexanizm: Asosiy Elementlar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228600" y="1005840"/>
            <a:ext cx="868680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74320" y="1170432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8000"/>
            </a:srgbClr>
          </a:solidFill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38912" y="1261872"/>
            <a:ext cx="658368" cy="658368"/>
          </a:xfrm>
          <a:prstGeom prst="ellipse">
            <a:avLst/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335024"/>
            <a:ext cx="512064" cy="512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1225296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Xalqaro Bandlik Guruhlari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234440" y="157276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 bir hudud kesimida xorijda talab yuqori kasblar bo'yicha guruhlar shakllantiriladi. Yoshlar professional tayyorgarlikdan o'tkaziladi.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274320" y="2130552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8000"/>
            </a:srgbClr>
          </a:solidFill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38912" y="2221992"/>
            <a:ext cx="658368" cy="658368"/>
          </a:xfrm>
          <a:prstGeom prst="ellipse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2295144"/>
            <a:ext cx="512064" cy="51206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2185416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Xalqaro Kasb-Karera Markazlari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1234440" y="253288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 tuman va shaharda bepul xizmatlar: til kurslari, IT, raqamli savodxonlik, xalqaro mehnat munosabatlari.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274320" y="3090672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8000"/>
            </a:srgbClr>
          </a:solidFill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38912" y="3182112"/>
            <a:ext cx="658368" cy="6583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3255264"/>
            <a:ext cx="512064" cy="51206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34440" y="3145536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Yo'nalishi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1234440" y="349300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Ingliz tili, zamonaviy dasturlash, xalqaro platformalar va masofaviy mehnat faoliyati bo'yicha maxsus dasturlar yo'lga qo'yiladi.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274320" y="4050792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8000"/>
            </a:srgbClr>
          </a:solidFill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38912" y="4142232"/>
            <a:ext cx="658368" cy="658368"/>
          </a:xfrm>
          <a:prstGeom prst="ellipse">
            <a:avLst/>
          </a:prstGeom>
          <a:solidFill>
            <a:srgbClr val="CE2028"/>
          </a:solidFill>
          <a:ln w="12700">
            <a:solidFill>
              <a:srgbClr val="CE2028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4215384"/>
            <a:ext cx="512064" cy="51206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34440" y="4105656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Ta'lim Muassasalari Hamkorligi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1234440" y="445312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Oliy, professional va umumta'lim tashkilotlari bilan birgalikda xalqaro sertifikat olishni qo'llab-quvvatlash mexanizmi.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D2455"/>
          </a:solidFill>
          <a:ln w="12700">
            <a:solidFill>
              <a:srgbClr val="0D24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91440"/>
            <a:ext cx="1417320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9144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KUTILAYOTGAN NATIJALAR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828800" y="40233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Loyiha Samarasi va Ijobiy O'zgarishlar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01168" y="1389888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554480"/>
            <a:ext cx="685800" cy="685800"/>
          </a:xfrm>
          <a:prstGeom prst="ellipse">
            <a:avLst/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27632"/>
            <a:ext cx="539496" cy="5394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15361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Yoshlar Bandligi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38328" y="2322576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Ishsiz yoshlarning bandligi ta'minlanadi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145536" y="1389888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10128" y="1554480"/>
            <a:ext cx="685800" cy="685800"/>
          </a:xfrm>
          <a:prstGeom prst="ellipse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627632"/>
            <a:ext cx="539496" cy="5394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51376" y="15361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Moslashuv Darajasi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3282696" y="2322576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Bitiruvchilarning mehnat bozoriga moslashuvi oshadi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6089904" y="1389888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254496" y="1554480"/>
            <a:ext cx="685800" cy="685800"/>
          </a:xfrm>
          <a:prstGeom prst="ellipse">
            <a:avLst/>
          </a:prstGeom>
          <a:solidFill>
            <a:srgbClr val="0D2455"/>
          </a:solidFill>
          <a:ln w="12700">
            <a:solidFill>
              <a:srgbClr val="0D2455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627632"/>
            <a:ext cx="539496" cy="5394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95744" y="15361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Xavfsiz Migratsiya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227064" y="2322576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Norasmiy va xavfli migratsiya holatlari kamayadi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201168" y="3200400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365760" y="3364992"/>
            <a:ext cx="685800" cy="6858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438144"/>
            <a:ext cx="539496" cy="5394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07008" y="334670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Valyuta Tushumi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338328" y="413308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Xorijdan kelib tushadigan valyuta hajmi ortadi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3145536" y="3200400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3310128" y="3364992"/>
            <a:ext cx="685800" cy="685800"/>
          </a:xfrm>
          <a:prstGeom prst="ellipse">
            <a:avLst/>
          </a:prstGeom>
          <a:solidFill>
            <a:srgbClr val="CE2028"/>
          </a:solidFill>
          <a:ln w="12700">
            <a:solidFill>
              <a:srgbClr val="CE2028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3438144"/>
            <a:ext cx="539496" cy="53949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151376" y="334670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Turmush Darajasi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3282696" y="413308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Yoshlar va oilalar daromadi yaxshilanadi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6089904" y="3200400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6254496" y="3364992"/>
            <a:ext cx="685800" cy="685800"/>
          </a:xfrm>
          <a:prstGeom prst="ellipse">
            <a:avLst/>
          </a:prstGeom>
          <a:solidFill>
            <a:srgbClr val="0A6E5A"/>
          </a:solidFill>
          <a:ln w="12700">
            <a:solidFill>
              <a:srgbClr val="0A6E5A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7648" y="3438144"/>
            <a:ext cx="539496" cy="53949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095744" y="334670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Bilim va Tajriba</a:t>
            </a:r>
            <a:endParaRPr lang="en-US" sz="1150" dirty="0"/>
          </a:p>
        </p:txBody>
      </p:sp>
      <p:sp>
        <p:nvSpPr>
          <p:cNvPr id="36" name="Text 27"/>
          <p:cNvSpPr/>
          <p:nvPr/>
        </p:nvSpPr>
        <p:spPr>
          <a:xfrm>
            <a:off x="6227064" y="413308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Xorij tajribasi iqtisodiyotga qaytib keladi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64592"/>
            <a:ext cx="9144000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246888"/>
            <a:ext cx="9144000" cy="164592"/>
          </a:xfrm>
          <a:prstGeom prst="rect">
            <a:avLst/>
          </a:prstGeom>
          <a:solidFill>
            <a:srgbClr val="CE2028"/>
          </a:solidFill>
          <a:ln w="12700">
            <a:solidFill>
              <a:srgbClr val="CE202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4718304"/>
            <a:ext cx="9144000" cy="164592"/>
          </a:xfrm>
          <a:prstGeom prst="rect">
            <a:avLst/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82896"/>
            <a:ext cx="9144000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CE2028"/>
          </a:solidFill>
          <a:ln w="12700">
            <a:solidFill>
              <a:srgbClr val="CE202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713232"/>
            <a:ext cx="3474720" cy="1737360"/>
          </a:xfrm>
          <a:prstGeom prst="rect">
            <a:avLst/>
          </a:prstGeom>
          <a:effectLst>
            <a:outerShdw sx="100000" sy="100000" kx="0" ky="0" algn="bl" rotWithShape="0" blurRad="254000" dist="63500" dir="2700000">
              <a:srgbClr val="000000">
                <a:alpha val="50000"/>
              </a:srgbClr>
            </a:outerShdw>
          </a:effectLst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8368"/>
            <a:ext cx="1371600" cy="1371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965960" y="6583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O'ZBEKISTON RESPUBLIKASI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965960" y="1005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MIGRATSIYA –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BANDLIK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457200" y="2212848"/>
            <a:ext cx="82296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57200" y="2395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E'TIBORINGIZ UCHUN</a:t>
            </a:r>
            <a:endParaRPr lang="en-US" sz="3600" dirty="0"/>
          </a:p>
        </p:txBody>
      </p:sp>
      <p:sp>
        <p:nvSpPr>
          <p:cNvPr id="15" name="Text 10"/>
          <p:cNvSpPr/>
          <p:nvPr/>
        </p:nvSpPr>
        <p:spPr>
          <a:xfrm>
            <a:off x="457200" y="299923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5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RAHMAT!</a:t>
            </a:r>
            <a:endParaRPr lang="en-US" sz="5200" dirty="0"/>
          </a:p>
        </p:txBody>
      </p:sp>
      <p:sp>
        <p:nvSpPr>
          <p:cNvPr id="16" name="Shape 11"/>
          <p:cNvSpPr/>
          <p:nvPr/>
        </p:nvSpPr>
        <p:spPr>
          <a:xfrm>
            <a:off x="1371600" y="3840480"/>
            <a:ext cx="6400800" cy="0"/>
          </a:xfrm>
          <a:prstGeom prst="line">
            <a:avLst/>
          </a:prstGeom>
          <a:noFill/>
          <a:ln w="762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39319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Xonimqulova Mohinur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" y="4251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Qashqadaryo viloyati kambag'allikni qisqartirish va bandlik boshqarmasi · 2025–2026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2026-06-15T11:10:10Z</dcterms:created>
  <dcterms:modified xsi:type="dcterms:W3CDTF">2026-06-15T11:10:10Z</dcterms:modified>
</cp:coreProperties>
</file>